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86"/>
    <p:restoredTop sz="94703"/>
  </p:normalViewPr>
  <p:slideViewPr>
    <p:cSldViewPr snapToGrid="0">
      <p:cViewPr varScale="1">
        <p:scale>
          <a:sx n="128" d="100"/>
          <a:sy n="128" d="100"/>
        </p:scale>
        <p:origin x="7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37E2B-9637-A346-A9F1-30E7F5324B1C}" type="datetimeFigureOut">
              <a:rPr kumimoji="1" lang="ko-KR" altLang="en-US" smtClean="0"/>
              <a:t>2025. 6. 10.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72088-A5B3-D74E-A038-56C8380E63D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2926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72088-A5B3-D74E-A038-56C8380E63DA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95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72088-A5B3-D74E-A038-56C8380E63DA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3318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6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0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8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17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4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8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5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8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54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spc="4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spc="4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594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8" r:id="rId6"/>
    <p:sldLayoutId id="2147483703" r:id="rId7"/>
    <p:sldLayoutId id="2147483704" r:id="rId8"/>
    <p:sldLayoutId id="2147483705" r:id="rId9"/>
    <p:sldLayoutId id="2147483707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none" spc="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4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4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4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4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4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0E1D959D-1D22-6871-4401-F5D7FCE32F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58"/>
          <a:stretch>
            <a:fillRect/>
          </a:stretch>
        </p:blipFill>
        <p:spPr>
          <a:xfrm>
            <a:off x="0" y="163512"/>
            <a:ext cx="12192000" cy="6857989"/>
          </a:xfrm>
          <a:prstGeom prst="rect">
            <a:avLst/>
          </a:prstGeom>
        </p:spPr>
      </p:pic>
      <p:sp>
        <p:nvSpPr>
          <p:cNvPr id="17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FAC0221-B884-DD0D-3FC6-19AE462A4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b="1">
                <a:solidFill>
                  <a:srgbClr val="FFFFFF"/>
                </a:solidFill>
              </a:rPr>
              <a:t>Gaia </a:t>
            </a:r>
            <a:r>
              <a:rPr lang="ko-KR" altLang="ko-KR" b="1">
                <a:solidFill>
                  <a:srgbClr val="FFFFFF"/>
                </a:solidFill>
              </a:rPr>
              <a:t>항성 데이터 분석 프로젝트 </a:t>
            </a:r>
            <a:endParaRPr kumimoji="1" lang="ko-KR" altLang="en-US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3E3889-848B-18D0-CF90-0B0480EBF0E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712865" y="1447799"/>
            <a:ext cx="2368905" cy="40766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ko-KR" altLang="zh-CN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맑은 고딕" panose="020B0503020000020004" pitchFamily="34" charset="-127"/>
                <a:cs typeface="Times New Roman" panose="02020603050405020304" pitchFamily="18" charset="0"/>
              </a:rPr>
              <a:t>JUN KWON</a:t>
            </a:r>
            <a:endParaRPr kumimoji="0" lang="ko-KR" altLang="zh-CN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648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E40DE-958C-8D24-3C8D-7642BB98E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데이터 선정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13D130-BD1B-A401-14CB-A63774FFC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2328493"/>
          </a:xfrm>
        </p:spPr>
        <p:txBody>
          <a:bodyPr/>
          <a:lstStyle/>
          <a:p>
            <a:r>
              <a:rPr lang="en-US" altLang="ko-KR" dirty="0"/>
              <a:t>Gaia </a:t>
            </a:r>
            <a:r>
              <a:rPr lang="ko-KR" altLang="ko-KR" dirty="0"/>
              <a:t>위성이 광학 관측을 통한</a:t>
            </a:r>
            <a:r>
              <a:rPr lang="en-US" altLang="ko-KR" dirty="0"/>
              <a:t> Gaia DR3 </a:t>
            </a:r>
            <a:r>
              <a:rPr lang="ko-KR" altLang="ko-KR" dirty="0"/>
              <a:t>데이터셋 </a:t>
            </a:r>
            <a:endParaRPr lang="en-US" altLang="ko-KR" dirty="0"/>
          </a:p>
          <a:p>
            <a:pPr lvl="1"/>
            <a:r>
              <a:rPr kumimoji="1" lang="ko-KR" altLang="en-US" dirty="0"/>
              <a:t>특징</a:t>
            </a:r>
            <a:endParaRPr kumimoji="1" lang="en-US" altLang="ko-KR" dirty="0"/>
          </a:p>
          <a:p>
            <a:pPr lvl="2"/>
            <a:r>
              <a:rPr kumimoji="1" lang="ko-KR" altLang="en-US" dirty="0" err="1"/>
              <a:t>고정밀</a:t>
            </a:r>
            <a:r>
              <a:rPr kumimoji="1" lang="ko-KR" altLang="en-US" dirty="0"/>
              <a:t> 측정값</a:t>
            </a:r>
            <a:r>
              <a:rPr kumimoji="1" lang="en-US" altLang="ko-KR" dirty="0"/>
              <a:t>,</a:t>
            </a:r>
            <a:r>
              <a:rPr kumimoji="1" lang="ko-KR" altLang="en-US" dirty="0"/>
              <a:t> 분광측정</a:t>
            </a:r>
            <a:r>
              <a:rPr kumimoji="1" lang="en-US" altLang="ko-KR" dirty="0"/>
              <a:t>,</a:t>
            </a:r>
            <a:r>
              <a:rPr kumimoji="1" lang="ko-KR" altLang="en-US" dirty="0"/>
              <a:t> 추정된 </a:t>
            </a:r>
            <a:r>
              <a:rPr kumimoji="1" lang="ko-KR" altLang="en-US" dirty="0" err="1"/>
              <a:t>물리량</a:t>
            </a:r>
            <a:r>
              <a:rPr kumimoji="1" lang="ko-KR" altLang="en-US" dirty="0"/>
              <a:t> 등 다양한 데이터 포함</a:t>
            </a:r>
            <a:endParaRPr kumimoji="1" lang="en-US" altLang="ko-KR" dirty="0"/>
          </a:p>
          <a:p>
            <a:pPr lvl="2"/>
            <a:r>
              <a:rPr kumimoji="1" lang="en-US" altLang="ko-KR" dirty="0"/>
              <a:t>18</a:t>
            </a:r>
            <a:r>
              <a:rPr kumimoji="1" lang="ko-KR" altLang="en-US" dirty="0" err="1"/>
              <a:t>억개</a:t>
            </a:r>
            <a:r>
              <a:rPr kumimoji="1" lang="ko-KR" altLang="en-US" dirty="0"/>
              <a:t> 이상의 많은 데이터 포함</a:t>
            </a:r>
            <a:endParaRPr kumimoji="1" lang="en-US" altLang="ko-KR" dirty="0"/>
          </a:p>
          <a:p>
            <a:pPr lvl="2"/>
            <a:r>
              <a:rPr kumimoji="1" lang="ko-KR" altLang="en-US" dirty="0"/>
              <a:t>관측이 불안정하거나 품질이 낮은 경우 항목이 누락 </a:t>
            </a:r>
            <a:r>
              <a:rPr kumimoji="1" lang="en-US" altLang="ko-KR" dirty="0"/>
              <a:t>(</a:t>
            </a:r>
            <a:r>
              <a:rPr kumimoji="1" lang="ko-KR" altLang="en-US" dirty="0"/>
              <a:t>일정 기준 품질 이상의 데이터만 제공</a:t>
            </a:r>
            <a:r>
              <a:rPr kumimoji="1" lang="en-US" altLang="ko-KR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E343E-F422-7204-23B7-859BD95FA42F}"/>
              </a:ext>
            </a:extLst>
          </p:cNvPr>
          <p:cNvSpPr txBox="1"/>
          <p:nvPr/>
        </p:nvSpPr>
        <p:spPr>
          <a:xfrm>
            <a:off x="775939" y="4883971"/>
            <a:ext cx="9574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Gaia archive </a:t>
            </a:r>
            <a:r>
              <a:rPr kumimoji="1" lang="ko-KR" altLang="en-US" dirty="0"/>
              <a:t>홈페이지에서 쿼리를 사용하여 겉보기 등급이 </a:t>
            </a:r>
            <a:r>
              <a:rPr kumimoji="1" lang="en-US" altLang="ko-KR" dirty="0"/>
              <a:t>7</a:t>
            </a:r>
            <a:r>
              <a:rPr kumimoji="1" lang="ko-KR" altLang="en-US" dirty="0"/>
              <a:t>등급 미만인 밝은 별만 추출 </a:t>
            </a:r>
            <a:r>
              <a:rPr kumimoji="1" lang="en-US" altLang="ko-KR" dirty="0"/>
              <a:t>=&gt;</a:t>
            </a:r>
            <a:r>
              <a:rPr kumimoji="1" lang="ko-KR" altLang="en-US" dirty="0"/>
              <a:t> 더 정확한 데이터를 통한 분석을 진행하기 위함</a:t>
            </a:r>
          </a:p>
        </p:txBody>
      </p:sp>
    </p:spTree>
    <p:extLst>
      <p:ext uri="{BB962C8B-B14F-4D97-AF65-F5344CB8AC3E}">
        <p14:creationId xmlns:p14="http://schemas.microsoft.com/office/powerpoint/2010/main" val="4025467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9C31B-609E-B1BA-4D48-E3542F41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데이터 </a:t>
            </a:r>
            <a:r>
              <a:rPr kumimoji="1" lang="ko-KR" altLang="en-US" dirty="0" err="1"/>
              <a:t>전처리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20D30B-AA01-EBCA-3335-240A494BC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데이터 중 직관적 이해가 가능한 변수를 사용하여 상관관계 분석하기 위해 변수 선택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=&gt;</a:t>
            </a:r>
            <a:r>
              <a:rPr kumimoji="1" lang="ko-KR" altLang="en-US" dirty="0"/>
              <a:t> </a:t>
            </a:r>
            <a:r>
              <a:rPr lang="ko-KR" altLang="ko-KR" dirty="0"/>
              <a:t>주요 분석 대상 변수는 거리</a:t>
            </a:r>
            <a:r>
              <a:rPr lang="en-US" altLang="ko-KR" dirty="0"/>
              <a:t>, </a:t>
            </a:r>
            <a:r>
              <a:rPr lang="ko-KR" altLang="ko-KR" dirty="0"/>
              <a:t>광도</a:t>
            </a:r>
            <a:r>
              <a:rPr lang="en-US" altLang="ko-KR" dirty="0"/>
              <a:t>, </a:t>
            </a:r>
            <a:r>
              <a:rPr lang="ko-KR" altLang="ko-KR" dirty="0"/>
              <a:t>온도</a:t>
            </a:r>
            <a:r>
              <a:rPr lang="en-US" altLang="ko-KR" dirty="0"/>
              <a:t>, </a:t>
            </a:r>
            <a:r>
              <a:rPr lang="ko-KR" altLang="ko-KR" dirty="0"/>
              <a:t>표면중력</a:t>
            </a:r>
            <a:r>
              <a:rPr lang="ko-KR" altLang="en-US" dirty="0"/>
              <a:t> 등을 선택</a:t>
            </a:r>
            <a:r>
              <a:rPr lang="ko-KR" altLang="ko-KR" dirty="0"/>
              <a:t> </a:t>
            </a:r>
            <a:endParaRPr lang="en-US" altLang="ko-KR" dirty="0"/>
          </a:p>
          <a:p>
            <a:r>
              <a:rPr lang="ko-KR" altLang="en-US" dirty="0"/>
              <a:t>실제 별의 밝기를 계산하기 위해 겉보기 등급을 절대 등급으로 바꾸어 파생변수 생성</a:t>
            </a:r>
            <a:endParaRPr lang="en-US" altLang="ko-KR" dirty="0"/>
          </a:p>
          <a:p>
            <a:r>
              <a:rPr lang="ko-KR" altLang="en-US" dirty="0" err="1"/>
              <a:t>결측치가</a:t>
            </a:r>
            <a:r>
              <a:rPr lang="ko-KR" altLang="en-US" dirty="0"/>
              <a:t> 존재하는 데이터 </a:t>
            </a:r>
            <a:r>
              <a:rPr lang="en-US" altLang="ko-KR" dirty="0"/>
              <a:t>Row </a:t>
            </a:r>
            <a:r>
              <a:rPr lang="ko-KR" altLang="en-US" dirty="0"/>
              <a:t>삭제</a:t>
            </a:r>
            <a:endParaRPr lang="en-US" altLang="ko-KR" dirty="0"/>
          </a:p>
          <a:p>
            <a:r>
              <a:rPr kumimoji="1" lang="en" altLang="ko-KR" dirty="0"/>
              <a:t>yeo-</a:t>
            </a:r>
            <a:r>
              <a:rPr kumimoji="1" lang="en" altLang="ko-KR" dirty="0" err="1"/>
              <a:t>johnson</a:t>
            </a:r>
            <a:r>
              <a:rPr kumimoji="1" lang="ko-KR" altLang="en-US" dirty="0"/>
              <a:t> 변환 </a:t>
            </a:r>
            <a:r>
              <a:rPr kumimoji="1" lang="en-US" altLang="ko-KR" dirty="0"/>
              <a:t>=&gt;</a:t>
            </a:r>
            <a:r>
              <a:rPr kumimoji="1" lang="ko-KR" altLang="en-US" dirty="0"/>
              <a:t> 치우친 데이터 변환</a:t>
            </a:r>
            <a:endParaRPr kumimoji="1" lang="en-US" altLang="ko-KR" dirty="0"/>
          </a:p>
          <a:p>
            <a:r>
              <a:rPr kumimoji="1" lang="en-US" altLang="ko-KR" dirty="0" err="1"/>
              <a:t>MinMaxScaler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사용하여 데이터 값 정규화</a:t>
            </a:r>
          </a:p>
        </p:txBody>
      </p:sp>
    </p:spTree>
    <p:extLst>
      <p:ext uri="{BB962C8B-B14F-4D97-AF65-F5344CB8AC3E}">
        <p14:creationId xmlns:p14="http://schemas.microsoft.com/office/powerpoint/2010/main" val="3713040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88A96-03BA-2895-289C-355F7E27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데이터 </a:t>
            </a:r>
            <a:r>
              <a:rPr kumimoji="1" lang="ko-KR" altLang="en-US" dirty="0" err="1"/>
              <a:t>전처리</a:t>
            </a:r>
            <a:endParaRPr kumimoji="1" lang="ko-KR" altLang="en-US" dirty="0"/>
          </a:p>
        </p:txBody>
      </p:sp>
      <p:pic>
        <p:nvPicPr>
          <p:cNvPr id="9" name="그림 8" descr="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F7F33F-B5B7-D5AC-0846-F55AAA432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183" y="2048328"/>
            <a:ext cx="4488181" cy="3740151"/>
          </a:xfrm>
          <a:prstGeom prst="rect">
            <a:avLst/>
          </a:prstGeom>
        </p:spPr>
      </p:pic>
      <p:pic>
        <p:nvPicPr>
          <p:cNvPr id="13" name="내용 개체 틀 12" descr="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D894A3-5D9B-C4FA-999A-F88071E96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8993" y="2048329"/>
            <a:ext cx="4488180" cy="3740150"/>
          </a:xfrm>
        </p:spPr>
      </p:pic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C60FC9A0-212A-6EFC-852F-C4EB8FCEEC6E}"/>
              </a:ext>
            </a:extLst>
          </p:cNvPr>
          <p:cNvSpPr/>
          <p:nvPr/>
        </p:nvSpPr>
        <p:spPr>
          <a:xfrm>
            <a:off x="5873504" y="3661619"/>
            <a:ext cx="776614" cy="513567"/>
          </a:xfrm>
          <a:prstGeom prst="rightArrow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093D6C-079B-7AD6-9552-4A6B09DD37FC}"/>
              </a:ext>
            </a:extLst>
          </p:cNvPr>
          <p:cNvSpPr txBox="1"/>
          <p:nvPr/>
        </p:nvSpPr>
        <p:spPr>
          <a:xfrm>
            <a:off x="5383671" y="4165932"/>
            <a:ext cx="1593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Yeo-Johnson </a:t>
            </a:r>
            <a:r>
              <a:rPr kumimoji="1" lang="ko-KR" altLang="en-US" dirty="0"/>
              <a:t>변환</a:t>
            </a:r>
          </a:p>
        </p:txBody>
      </p:sp>
    </p:spTree>
    <p:extLst>
      <p:ext uri="{BB962C8B-B14F-4D97-AF65-F5344CB8AC3E}">
        <p14:creationId xmlns:p14="http://schemas.microsoft.com/office/powerpoint/2010/main" val="2386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40131-6AA0-248F-E602-BBF98193C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내용 개체 틀 4" descr="스크린샷, 텍스트, 멀티미디어 소프트웨어, 천문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257BFB-0D48-8EFE-89D6-A972288C6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1609" y="885295"/>
            <a:ext cx="4248386" cy="5058305"/>
          </a:xfrm>
        </p:spPr>
      </p:pic>
    </p:spTree>
    <p:extLst>
      <p:ext uri="{BB962C8B-B14F-4D97-AF65-F5344CB8AC3E}">
        <p14:creationId xmlns:p14="http://schemas.microsoft.com/office/powerpoint/2010/main" val="41710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41D37-6A33-BA5A-A11D-4B4930EB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데이터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EE6C2-89B9-BF0B-32F5-5DF5B4695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5245993" cy="515152"/>
          </a:xfrm>
        </p:spPr>
        <p:txBody>
          <a:bodyPr/>
          <a:lstStyle/>
          <a:p>
            <a:r>
              <a:rPr kumimoji="1" lang="ko-KR" altLang="en-US" dirty="0" err="1"/>
              <a:t>산점도</a:t>
            </a:r>
            <a:r>
              <a:rPr kumimoji="1" lang="ko-KR" altLang="en-US" dirty="0"/>
              <a:t> 행렬을 이용한 변수간 상관관계 분석</a:t>
            </a:r>
          </a:p>
        </p:txBody>
      </p:sp>
      <p:pic>
        <p:nvPicPr>
          <p:cNvPr id="5" name="그림 4" descr="텍스트, 패턴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C71CC9-7E01-E824-C7A7-08938CF61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121" y="1040561"/>
            <a:ext cx="4662291" cy="46622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412999-FEAE-F73D-7C54-7FE9F4721942}"/>
              </a:ext>
            </a:extLst>
          </p:cNvPr>
          <p:cNvSpPr txBox="1"/>
          <p:nvPr/>
        </p:nvSpPr>
        <p:spPr>
          <a:xfrm>
            <a:off x="5861880" y="2646481"/>
            <a:ext cx="511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절대등급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B729C8-0F76-0C20-69DD-AD889F0914D1}"/>
              </a:ext>
            </a:extLst>
          </p:cNvPr>
          <p:cNvSpPr txBox="1"/>
          <p:nvPr/>
        </p:nvSpPr>
        <p:spPr>
          <a:xfrm>
            <a:off x="5603048" y="1972571"/>
            <a:ext cx="883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연주시차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1FF52-9E15-E8E6-3160-1B863C75A665}"/>
              </a:ext>
            </a:extLst>
          </p:cNvPr>
          <p:cNvSpPr txBox="1"/>
          <p:nvPr/>
        </p:nvSpPr>
        <p:spPr>
          <a:xfrm>
            <a:off x="5603048" y="3594190"/>
            <a:ext cx="886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표면중력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EFCDEA-223D-D549-6F84-A19B096BC5B9}"/>
              </a:ext>
            </a:extLst>
          </p:cNvPr>
          <p:cNvSpPr txBox="1"/>
          <p:nvPr/>
        </p:nvSpPr>
        <p:spPr>
          <a:xfrm>
            <a:off x="5962744" y="4408375"/>
            <a:ext cx="5597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거리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D0D2E8-D894-2172-F7F2-944582EBE7FA}"/>
              </a:ext>
            </a:extLst>
          </p:cNvPr>
          <p:cNvSpPr txBox="1"/>
          <p:nvPr/>
        </p:nvSpPr>
        <p:spPr>
          <a:xfrm>
            <a:off x="7081122" y="5701494"/>
            <a:ext cx="445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온도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D4E915-DC96-7C73-82F8-50451E3B98BD}"/>
              </a:ext>
            </a:extLst>
          </p:cNvPr>
          <p:cNvSpPr txBox="1"/>
          <p:nvPr/>
        </p:nvSpPr>
        <p:spPr>
          <a:xfrm>
            <a:off x="7425593" y="5690450"/>
            <a:ext cx="618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연주시차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190DB8-1AEF-9911-1AE4-6F6294898CDA}"/>
              </a:ext>
            </a:extLst>
          </p:cNvPr>
          <p:cNvSpPr txBox="1"/>
          <p:nvPr/>
        </p:nvSpPr>
        <p:spPr>
          <a:xfrm>
            <a:off x="8216317" y="5768606"/>
            <a:ext cx="618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절대등급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2C9A25-DD47-1974-7566-6EF755BFA495}"/>
              </a:ext>
            </a:extLst>
          </p:cNvPr>
          <p:cNvSpPr txBox="1"/>
          <p:nvPr/>
        </p:nvSpPr>
        <p:spPr>
          <a:xfrm>
            <a:off x="9030821" y="5669719"/>
            <a:ext cx="565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/>
              <a:t>표면중력</a:t>
            </a:r>
          </a:p>
        </p:txBody>
      </p:sp>
      <p:sp>
        <p:nvSpPr>
          <p:cNvPr id="15" name="왼쪽 중괄호[L] 14">
            <a:extLst>
              <a:ext uri="{FF2B5EF4-FFF2-40B4-BE49-F238E27FC236}">
                <a16:creationId xmlns:a16="http://schemas.microsoft.com/office/drawing/2014/main" id="{07A5B6C9-766D-733D-2B54-79F9EECE80A8}"/>
              </a:ext>
            </a:extLst>
          </p:cNvPr>
          <p:cNvSpPr/>
          <p:nvPr/>
        </p:nvSpPr>
        <p:spPr>
          <a:xfrm>
            <a:off x="6330122" y="2486991"/>
            <a:ext cx="192400" cy="8790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A4F9AE09-A0CC-ACD4-F7D2-823642F6BDD7}"/>
              </a:ext>
            </a:extLst>
          </p:cNvPr>
          <p:cNvCxnSpPr>
            <a:cxnSpLocks/>
          </p:cNvCxnSpPr>
          <p:nvPr/>
        </p:nvCxnSpPr>
        <p:spPr>
          <a:xfrm>
            <a:off x="6360367" y="2113430"/>
            <a:ext cx="170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BF9C64A7-B580-6978-CB49-9CC04431FD34}"/>
              </a:ext>
            </a:extLst>
          </p:cNvPr>
          <p:cNvCxnSpPr>
            <a:cxnSpLocks/>
          </p:cNvCxnSpPr>
          <p:nvPr/>
        </p:nvCxnSpPr>
        <p:spPr>
          <a:xfrm>
            <a:off x="6351634" y="3748078"/>
            <a:ext cx="170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9423ECAF-EB85-58E3-C3B5-79AF47646C4F}"/>
              </a:ext>
            </a:extLst>
          </p:cNvPr>
          <p:cNvCxnSpPr>
            <a:cxnSpLocks/>
          </p:cNvCxnSpPr>
          <p:nvPr/>
        </p:nvCxnSpPr>
        <p:spPr>
          <a:xfrm>
            <a:off x="6373805" y="4561971"/>
            <a:ext cx="170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F1D97969-B944-5D66-DE94-86D7C5FA3B0A}"/>
              </a:ext>
            </a:extLst>
          </p:cNvPr>
          <p:cNvCxnSpPr/>
          <p:nvPr/>
        </p:nvCxnSpPr>
        <p:spPr>
          <a:xfrm>
            <a:off x="7253357" y="5647634"/>
            <a:ext cx="0" cy="107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C7A2ED49-CDB2-3F9F-262C-22F4E65B6CA9}"/>
              </a:ext>
            </a:extLst>
          </p:cNvPr>
          <p:cNvCxnSpPr/>
          <p:nvPr/>
        </p:nvCxnSpPr>
        <p:spPr>
          <a:xfrm>
            <a:off x="7653129" y="5645427"/>
            <a:ext cx="0" cy="107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3611A463-871D-6D27-64C4-EA3DE3E0A298}"/>
              </a:ext>
            </a:extLst>
          </p:cNvPr>
          <p:cNvCxnSpPr/>
          <p:nvPr/>
        </p:nvCxnSpPr>
        <p:spPr>
          <a:xfrm>
            <a:off x="9269896" y="5660885"/>
            <a:ext cx="0" cy="107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왼쪽 중괄호[L] 24">
            <a:extLst>
              <a:ext uri="{FF2B5EF4-FFF2-40B4-BE49-F238E27FC236}">
                <a16:creationId xmlns:a16="http://schemas.microsoft.com/office/drawing/2014/main" id="{CD6D871A-10C1-2FFF-2F32-BC2E321E4AB9}"/>
              </a:ext>
            </a:extLst>
          </p:cNvPr>
          <p:cNvSpPr/>
          <p:nvPr/>
        </p:nvSpPr>
        <p:spPr>
          <a:xfrm rot="16200000">
            <a:off x="8385188" y="5335219"/>
            <a:ext cx="194365" cy="84569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2C741B-A3D9-D791-1D08-D1B744A761FE}"/>
              </a:ext>
            </a:extLst>
          </p:cNvPr>
          <p:cNvSpPr txBox="1"/>
          <p:nvPr/>
        </p:nvSpPr>
        <p:spPr>
          <a:xfrm>
            <a:off x="632684" y="5430051"/>
            <a:ext cx="6776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ko-KR" dirty="0"/>
          </a:p>
          <a:p>
            <a:pPr marL="285750" indent="-285750">
              <a:buFont typeface="Wingdings" pitchFamily="2" charset="2"/>
              <a:buChar char="Ø"/>
            </a:pPr>
            <a:r>
              <a:rPr kumimoji="1" lang="ko-KR" altLang="en-US" dirty="0"/>
              <a:t>절대등급 </a:t>
            </a:r>
            <a:r>
              <a:rPr lang="ko-KR" altLang="en-US" b="1" dirty="0"/>
              <a:t>∝ </a:t>
            </a:r>
            <a:r>
              <a:rPr lang="en-US" altLang="ko-KR" dirty="0"/>
              <a:t>1/</a:t>
            </a:r>
            <a:r>
              <a:rPr lang="ko-KR" altLang="en-US" dirty="0"/>
              <a:t>광도 </a:t>
            </a:r>
            <a:r>
              <a:rPr lang="en-US" altLang="ko-KR" dirty="0"/>
              <a:t>=&gt;</a:t>
            </a:r>
            <a:r>
              <a:rPr lang="ko-KR" altLang="en-US" dirty="0"/>
              <a:t> 절대 등급이 낮으면 별의 밝기가 높다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719442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60070</TotalTime>
  <Words>163</Words>
  <Application>Microsoft Macintosh PowerPoint</Application>
  <PresentationFormat>와이드스크린</PresentationFormat>
  <Paragraphs>31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Microsoft GothicNeo</vt:lpstr>
      <vt:lpstr>Arial</vt:lpstr>
      <vt:lpstr>Wingdings</vt:lpstr>
      <vt:lpstr>ChronicleVTI</vt:lpstr>
      <vt:lpstr>Gaia 항성 데이터 분석 프로젝트 </vt:lpstr>
      <vt:lpstr>데이터 선정</vt:lpstr>
      <vt:lpstr>데이터 전처리</vt:lpstr>
      <vt:lpstr>데이터 전처리</vt:lpstr>
      <vt:lpstr>PowerPoint 프레젠테이션</vt:lpstr>
      <vt:lpstr>데이터 분석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Kwon</dc:creator>
  <cp:lastModifiedBy>Jun Kwon</cp:lastModifiedBy>
  <cp:revision>7</cp:revision>
  <dcterms:created xsi:type="dcterms:W3CDTF">2025-06-07T13:59:48Z</dcterms:created>
  <dcterms:modified xsi:type="dcterms:W3CDTF">2025-07-21T13:30:42Z</dcterms:modified>
</cp:coreProperties>
</file>